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41648" y="685800"/>
            <a:ext cx="1060704" cy="1060704"/>
          </a:xfrm>
          <a:prstGeom prst="ellipse">
            <a:avLst/>
          </a:prstGeom>
          <a:solidFill>
            <a:srgbClr val="4361EE"/>
          </a:solidFill>
          <a:ln/>
        </p:spPr>
      </p:sp>
      <p:sp>
        <p:nvSpPr>
          <p:cNvPr id="3" name="Text 1"/>
          <p:cNvSpPr/>
          <p:nvPr/>
        </p:nvSpPr>
        <p:spPr>
          <a:xfrm>
            <a:off x="4041648" y="685800"/>
            <a:ext cx="1060704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🎓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18745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</a:t>
            </a:r>
            <a:pPr algn="ctr" indent="0" marL="0">
              <a:buNone/>
            </a:pPr>
            <a:r>
              <a:rPr lang="en-US" sz="5400" b="1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Guardian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1371600" y="269748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Offline-First Academic Companion for Improving Student Performance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286000" y="352044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Term Project Defense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38862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Richard Yawlui  ·  Department of Computer Science  ·  July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lose marks they could have kept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05072" cy="1463040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/>
        </p:spPr>
      </p:sp>
      <p:sp>
        <p:nvSpPr>
          <p:cNvPr id="5" name="Shape 3"/>
          <p:cNvSpPr/>
          <p:nvPr/>
        </p:nvSpPr>
        <p:spPr>
          <a:xfrm>
            <a:off x="685800" y="1627632"/>
            <a:ext cx="512064" cy="512064"/>
          </a:xfrm>
          <a:prstGeom prst="ellipse">
            <a:avLst/>
          </a:prstGeom>
          <a:solidFill>
            <a:srgbClr val="F72585"/>
          </a:solidFill>
          <a:ln/>
        </p:spPr>
      </p:sp>
      <p:sp>
        <p:nvSpPr>
          <p:cNvPr id="6" name="Text 4"/>
          <p:cNvSpPr/>
          <p:nvPr/>
        </p:nvSpPr>
        <p:spPr>
          <a:xfrm>
            <a:off x="630936" y="1609344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📉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5179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blindness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371600" y="1874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GPA is discovered when results are published — too late to react to a failing course.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81728" y="1371600"/>
            <a:ext cx="4005072" cy="1463040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/>
        </p:spPr>
      </p:sp>
      <p:sp>
        <p:nvSpPr>
          <p:cNvPr id="10" name="Shape 8"/>
          <p:cNvSpPr/>
          <p:nvPr/>
        </p:nvSpPr>
        <p:spPr>
          <a:xfrm>
            <a:off x="4910328" y="1627632"/>
            <a:ext cx="512064" cy="512064"/>
          </a:xfrm>
          <a:prstGeom prst="ellipse">
            <a:avLst/>
          </a:prstGeom>
          <a:solidFill>
            <a:srgbClr val="4361EE"/>
          </a:solidFill>
          <a:ln/>
        </p:spPr>
      </p:sp>
      <p:sp>
        <p:nvSpPr>
          <p:cNvPr id="11" name="Text 9"/>
          <p:cNvSpPr/>
          <p:nvPr/>
        </p:nvSpPr>
        <p:spPr>
          <a:xfrm>
            <a:off x="4855464" y="1609344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596128" y="151790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Unmeasured study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596128" y="187452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Studying happens in unplanned bursts; neglected courses stay invisible until the exam.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063240"/>
            <a:ext cx="4005072" cy="1463040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/>
        </p:spPr>
      </p:sp>
      <p:sp>
        <p:nvSpPr>
          <p:cNvPr id="15" name="Shape 13"/>
          <p:cNvSpPr/>
          <p:nvPr/>
        </p:nvSpPr>
        <p:spPr>
          <a:xfrm>
            <a:off x="685800" y="3319272"/>
            <a:ext cx="512064" cy="512064"/>
          </a:xfrm>
          <a:prstGeom prst="ellipse">
            <a:avLst/>
          </a:prstGeom>
          <a:solidFill>
            <a:srgbClr val="E67E22"/>
          </a:solidFill>
          <a:ln/>
        </p:spPr>
      </p:sp>
      <p:sp>
        <p:nvSpPr>
          <p:cNvPr id="16" name="Text 14"/>
          <p:cNvSpPr/>
          <p:nvPr/>
        </p:nvSpPr>
        <p:spPr>
          <a:xfrm>
            <a:off x="630936" y="3300984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20954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Passive revision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371600" y="35661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Re-reading notes feels productive but is one of the least effective techniques known.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681728" y="3063240"/>
            <a:ext cx="4005072" cy="1463040"/>
          </a:xfrm>
          <a:prstGeom prst="roundRect">
            <a:avLst>
              <a:gd name="adj" fmla="val 5000"/>
            </a:avLst>
          </a:prstGeom>
          <a:solidFill>
            <a:srgbClr val="F2F4F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10328" y="3319272"/>
            <a:ext cx="512064" cy="512064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21" name="Text 19"/>
          <p:cNvSpPr/>
          <p:nvPr/>
        </p:nvSpPr>
        <p:spPr>
          <a:xfrm>
            <a:off x="4855464" y="3300984"/>
            <a:ext cx="62179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5596128" y="3209544"/>
            <a:ext cx="2971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deadlines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596128" y="356616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live on notice boards and group chats; overdue work is found by accident.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tools solve fragments of this — and almost all need internet, accounts or subscriptions.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&amp;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3840480" cy="3383280"/>
          </a:xfrm>
          <a:prstGeom prst="roundRect">
            <a:avLst>
              <a:gd name="adj" fmla="val 2162"/>
            </a:avLst>
          </a:prstGeom>
          <a:solidFill>
            <a:srgbClr val="12141F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5544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77240" y="187452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and build a free, fully offline, browser-based academic companion that helps students monitor and improve their performance.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4617720" y="137160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manager with automatic GPA on the 4.0 scale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Pomodoro study tracker with automatic logging &amp; streaks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Active-recall flashcards with mastery tracking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on-device vault for notes &amp; past questions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Deadline-aware tasks with notifications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✓"/>
            </a:pPr>
            <a:r>
              <a:rPr lang="en-US" sz="140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internet, zero accounts — full backup &amp; restore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 how learning actually works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33472" cy="3246120"/>
          </a:xfrm>
          <a:prstGeom prst="roundRect">
            <a:avLst>
              <a:gd name="adj" fmla="val 2778"/>
            </a:avLst>
          </a:prstGeom>
          <a:solidFill>
            <a:srgbClr val="F2F4FA"/>
          </a:solidFill>
          <a:ln/>
        </p:spPr>
      </p:sp>
      <p:sp>
        <p:nvSpPr>
          <p:cNvPr id="5" name="Shape 3"/>
          <p:cNvSpPr/>
          <p:nvPr/>
        </p:nvSpPr>
        <p:spPr>
          <a:xfrm>
            <a:off x="1490472" y="1600200"/>
            <a:ext cx="566928" cy="566928"/>
          </a:xfrm>
          <a:prstGeom prst="ellipse">
            <a:avLst/>
          </a:prstGeom>
          <a:solidFill>
            <a:srgbClr val="4361EE"/>
          </a:solidFill>
          <a:ln/>
        </p:spPr>
      </p:sp>
      <p:sp>
        <p:nvSpPr>
          <p:cNvPr id="6" name="Text 4"/>
          <p:cNvSpPr/>
          <p:nvPr/>
        </p:nvSpPr>
        <p:spPr>
          <a:xfrm>
            <a:off x="1435608" y="1581912"/>
            <a:ext cx="6766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2286000"/>
            <a:ext cx="2359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" y="2651760"/>
            <a:ext cx="22311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yourself beats re-reading for long-term retention.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" y="3429000"/>
            <a:ext cx="2231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Roediger &amp; Karpicke (2006)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" y="379476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436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Flashcards make you answer before you flip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273552" y="1325880"/>
            <a:ext cx="2633472" cy="3246120"/>
          </a:xfrm>
          <a:prstGeom prst="roundRect">
            <a:avLst>
              <a:gd name="adj" fmla="val 2778"/>
            </a:avLst>
          </a:prstGeom>
          <a:solidFill>
            <a:srgbClr val="F2F4FA"/>
          </a:solidFill>
          <a:ln/>
        </p:spPr>
      </p:sp>
      <p:sp>
        <p:nvSpPr>
          <p:cNvPr id="12" name="Shape 10"/>
          <p:cNvSpPr/>
          <p:nvPr/>
        </p:nvSpPr>
        <p:spPr>
          <a:xfrm>
            <a:off x="4306824" y="1600200"/>
            <a:ext cx="566928" cy="566928"/>
          </a:xfrm>
          <a:prstGeom prst="ellipse">
            <a:avLst/>
          </a:prstGeom>
          <a:solidFill>
            <a:srgbClr val="F72585"/>
          </a:solidFill>
          <a:ln/>
        </p:spPr>
      </p:sp>
      <p:sp>
        <p:nvSpPr>
          <p:cNvPr id="13" name="Text 11"/>
          <p:cNvSpPr/>
          <p:nvPr/>
        </p:nvSpPr>
        <p:spPr>
          <a:xfrm>
            <a:off x="4251960" y="1581912"/>
            <a:ext cx="6766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📆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410712" y="2286000"/>
            <a:ext cx="2359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practice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3474720" y="2651760"/>
            <a:ext cx="22311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spaced across days beats cramming the night before.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474720" y="3429000"/>
            <a:ext cx="2231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Cepeda et al. (2006)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474720" y="379476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Streaks &amp; 7-day charts reward consistency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089904" y="1325880"/>
            <a:ext cx="2633472" cy="3246120"/>
          </a:xfrm>
          <a:prstGeom prst="roundRect">
            <a:avLst>
              <a:gd name="adj" fmla="val 2778"/>
            </a:avLst>
          </a:prstGeom>
          <a:solidFill>
            <a:srgbClr val="F2F4FA"/>
          </a:solidFill>
          <a:ln/>
        </p:spPr>
      </p:sp>
      <p:sp>
        <p:nvSpPr>
          <p:cNvPr id="19" name="Shape 17"/>
          <p:cNvSpPr/>
          <p:nvPr/>
        </p:nvSpPr>
        <p:spPr>
          <a:xfrm>
            <a:off x="7123176" y="1600200"/>
            <a:ext cx="566928" cy="566928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20" name="Text 18"/>
          <p:cNvSpPr/>
          <p:nvPr/>
        </p:nvSpPr>
        <p:spPr>
          <a:xfrm>
            <a:off x="7068312" y="1581912"/>
            <a:ext cx="676656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🍅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227064" y="2286000"/>
            <a:ext cx="23591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Time-boxing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291072" y="2651760"/>
            <a:ext cx="2231136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focus intervals with short breaks sustain attention.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91072" y="3429000"/>
            <a:ext cx="22311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8A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Cirillo (2006)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91072" y="3794760"/>
            <a:ext cx="223113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Built-in Pomodoro timer logs real focus time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local — the browser is the whole platform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577840" cy="731520"/>
          </a:xfrm>
          <a:prstGeom prst="roundRect">
            <a:avLst>
              <a:gd name="adj" fmla="val 10000"/>
            </a:avLst>
          </a:prstGeom>
          <a:solidFill>
            <a:srgbClr val="F2F4FA"/>
          </a:solidFill>
          <a:ln/>
        </p:spPr>
      </p:sp>
      <p:sp>
        <p:nvSpPr>
          <p:cNvPr id="5" name="Shape 3"/>
          <p:cNvSpPr/>
          <p:nvPr/>
        </p:nvSpPr>
        <p:spPr>
          <a:xfrm>
            <a:off x="640080" y="1527048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4361E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27048"/>
            <a:ext cx="1417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212848" y="144475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pages · hash router · CSS-variable theme system (light/dark) · Chart.js visualisations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5577840" cy="731520"/>
          </a:xfrm>
          <a:prstGeom prst="roundRect">
            <a:avLst>
              <a:gd name="adj" fmla="val 10000"/>
            </a:avLst>
          </a:prstGeom>
          <a:solidFill>
            <a:srgbClr val="F2F4FA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395728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F7258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95728"/>
            <a:ext cx="1417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2212848" y="231343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modules: courses · grades · timer · flashcards · vault · tasks · search · settings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5577840" cy="731520"/>
          </a:xfrm>
          <a:prstGeom prst="roundRect">
            <a:avLst>
              <a:gd name="adj" fmla="val 10000"/>
            </a:avLst>
          </a:prstGeom>
          <a:solidFill>
            <a:srgbClr val="F2F4FA"/>
          </a:solidFill>
          <a:ln/>
        </p:spPr>
      </p:sp>
      <p:sp>
        <p:nvSpPr>
          <p:cNvPr id="13" name="Shape 11"/>
          <p:cNvSpPr/>
          <p:nvPr/>
        </p:nvSpPr>
        <p:spPr>
          <a:xfrm>
            <a:off x="640080" y="3264408"/>
            <a:ext cx="1417320" cy="420624"/>
          </a:xfrm>
          <a:prstGeom prst="roundRect">
            <a:avLst>
              <a:gd name="adj" fmla="val 13043"/>
            </a:avLst>
          </a:prstGeom>
          <a:solidFill>
            <a:srgbClr val="00B89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3264408"/>
            <a:ext cx="1417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212848" y="3182112"/>
            <a:ext cx="3703320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 (structured data)  +  IndexedDB (image &amp; PDF blobs)  ·  JSON export / import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63640" y="1371600"/>
            <a:ext cx="2423160" cy="2514600"/>
          </a:xfrm>
          <a:prstGeom prst="roundRect">
            <a:avLst>
              <a:gd name="adj" fmla="val 3019"/>
            </a:avLst>
          </a:prstGeom>
          <a:solidFill>
            <a:srgbClr val="12141F"/>
          </a:solidFill>
          <a:ln/>
        </p:spPr>
      </p:sp>
      <p:sp>
        <p:nvSpPr>
          <p:cNvPr id="17" name="Text 15"/>
          <p:cNvSpPr/>
          <p:nvPr/>
        </p:nvSpPr>
        <p:spPr>
          <a:xfrm>
            <a:off x="6446520" y="1600200"/>
            <a:ext cx="2057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build step.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framework.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server.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account.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46520" y="2880360"/>
            <a:ext cx="2057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HTML5 · CSS3 · vanilla JavaScript. Fonts, icons and Chart.js are bundled — it runs with Wi-Fi off.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416052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436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index.html → it just works.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glance — the whole academic picture</a:t>
            </a:r>
            <a:endParaRPr lang="en-US" sz="3000" dirty="0"/>
          </a:p>
        </p:txBody>
      </p:sp>
      <p:pic>
        <p:nvPicPr>
          <p:cNvPr id="4" name="Image 0" descr="C:/Users/HP/Desktop/school project/docs/screenshots/01_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8448"/>
            <a:ext cx="5394960" cy="3554512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6172200" y="1463040"/>
            <a:ext cx="457200" cy="457200"/>
          </a:xfrm>
          <a:prstGeom prst="ellipse">
            <a:avLst/>
          </a:prstGeom>
          <a:solidFill>
            <a:srgbClr val="4361EE"/>
          </a:solidFill>
          <a:ln/>
        </p:spPr>
      </p:sp>
      <p:sp>
        <p:nvSpPr>
          <p:cNvPr id="6" name="Text 3"/>
          <p:cNvSpPr/>
          <p:nvPr/>
        </p:nvSpPr>
        <p:spPr>
          <a:xfrm>
            <a:off x="6117336" y="144475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⭐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766560" y="137160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GPA on the 4.0 scale, recomputed on every change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172200" y="2514600"/>
            <a:ext cx="457200" cy="457200"/>
          </a:xfrm>
          <a:prstGeom prst="ellipse">
            <a:avLst/>
          </a:prstGeom>
          <a:solidFill>
            <a:srgbClr val="F72585"/>
          </a:solidFill>
          <a:ln/>
        </p:spPr>
      </p:sp>
      <p:sp>
        <p:nvSpPr>
          <p:cNvPr id="9" name="Text 6"/>
          <p:cNvSpPr/>
          <p:nvPr/>
        </p:nvSpPr>
        <p:spPr>
          <a:xfrm>
            <a:off x="6117336" y="24963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766560" y="242316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hours this week + day streak for motivation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72200" y="3566160"/>
            <a:ext cx="457200" cy="45720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2" name="Text 9"/>
          <p:cNvSpPr/>
          <p:nvPr/>
        </p:nvSpPr>
        <p:spPr>
          <a:xfrm>
            <a:off x="6117336" y="354787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766560" y="347472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Overdue &amp; due-today tasks surface automatically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MODULE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 &amp; grade intelligence</a:t>
            </a:r>
            <a:endParaRPr lang="en-US" sz="3000" dirty="0"/>
          </a:p>
        </p:txBody>
      </p:sp>
      <p:pic>
        <p:nvPicPr>
          <p:cNvPr id="4" name="Image 0" descr="C:/Users/HP/Desktop/school project/docs/screenshots/02_cour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69080" cy="26809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pic>
        <p:nvPicPr>
          <p:cNvPr id="5" name="Image 1" descr="C:/Users/HP/Desktop/school project/docs/screenshots/03_grad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69080" cy="26809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411480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Search, filter &amp; sort with live letter-grade preview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663440" y="4114800"/>
            <a:ext cx="4069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Ghanaian 4.0 scale: one table drives letters, points &amp; GPA</a:t>
            </a:r>
            <a:endParaRPr lang="en-US" sz="1150" dirty="0"/>
          </a:p>
        </p:txBody>
      </p:sp>
      <p:sp>
        <p:nvSpPr>
          <p:cNvPr id="8" name="Text 4"/>
          <p:cNvSpPr/>
          <p:nvPr/>
        </p:nvSpPr>
        <p:spPr>
          <a:xfrm>
            <a:off x="1828800" y="45720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361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GPA = Σ(grade points × credit hours) ÷ Σ(credit hours)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Study time you can trust</a:t>
            </a:r>
            <a:endParaRPr lang="en-US" sz="3000" dirty="0"/>
          </a:p>
        </p:txBody>
      </p:sp>
      <p:pic>
        <p:nvPicPr>
          <p:cNvPr id="4" name="Image 0" descr="C:/Users/HP/Desktop/school project/docs/screenshots/04_stud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1840" y="1298448"/>
            <a:ext cx="5394960" cy="3554512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sp>
        <p:nvSpPr>
          <p:cNvPr id="5" name="Shape 2"/>
          <p:cNvSpPr/>
          <p:nvPr/>
        </p:nvSpPr>
        <p:spPr>
          <a:xfrm>
            <a:off x="457200" y="1417320"/>
            <a:ext cx="457200" cy="457200"/>
          </a:xfrm>
          <a:prstGeom prst="ellipse">
            <a:avLst/>
          </a:prstGeom>
          <a:solidFill>
            <a:srgbClr val="4361EE"/>
          </a:solidFill>
          <a:ln/>
        </p:spPr>
      </p:sp>
      <p:sp>
        <p:nvSpPr>
          <p:cNvPr id="6" name="Text 3"/>
          <p:cNvSpPr/>
          <p:nvPr/>
        </p:nvSpPr>
        <p:spPr>
          <a:xfrm>
            <a:off x="402336" y="139903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1051560" y="13716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Drift-free timer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051560" y="1655064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real timestamps, so background-tab throttling can't corrupt it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57200" y="2514600"/>
            <a:ext cx="457200" cy="457200"/>
          </a:xfrm>
          <a:prstGeom prst="ellipse">
            <a:avLst/>
          </a:prstGeom>
          <a:solidFill>
            <a:srgbClr val="F72585"/>
          </a:solidFill>
          <a:ln/>
        </p:spPr>
      </p:sp>
      <p:sp>
        <p:nvSpPr>
          <p:cNvPr id="10" name="Text 7"/>
          <p:cNvSpPr/>
          <p:nvPr/>
        </p:nvSpPr>
        <p:spPr>
          <a:xfrm>
            <a:off x="402336" y="249631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051560" y="246888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logging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051560" y="2752344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genuinely elapsed focus minutes can be logged — no phantom hours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457200" y="3611880"/>
            <a:ext cx="457200" cy="457200"/>
          </a:xfrm>
          <a:prstGeom prst="ellipse">
            <a:avLst/>
          </a:prstGeom>
          <a:solidFill>
            <a:srgbClr val="00B894"/>
          </a:solidFill>
          <a:ln/>
        </p:spPr>
      </p:sp>
      <p:sp>
        <p:nvSpPr>
          <p:cNvPr id="14" name="Text 11"/>
          <p:cNvSpPr/>
          <p:nvPr/>
        </p:nvSpPr>
        <p:spPr>
          <a:xfrm>
            <a:off x="402336" y="3593592"/>
            <a:ext cx="56692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🔥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1051560" y="35661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Consistency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051560" y="3849624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7-day chart, weekly totals and streaks make neglect visible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FLASHCARDS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Revision that actually works</a:t>
            </a:r>
            <a:endParaRPr lang="en-US" sz="3000" dirty="0"/>
          </a:p>
        </p:txBody>
      </p:sp>
      <p:pic>
        <p:nvPicPr>
          <p:cNvPr id="4" name="Image 0" descr="C:/Users/HP/Desktop/school project/docs/screenshots/05_flashcar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98448"/>
            <a:ext cx="5394960" cy="3554512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sp>
        <p:nvSpPr>
          <p:cNvPr id="5" name="Text 2"/>
          <p:cNvSpPr/>
          <p:nvPr/>
        </p:nvSpPr>
        <p:spPr>
          <a:xfrm>
            <a:off x="6126480" y="1463040"/>
            <a:ext cx="26060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recall, built in
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Decks per course · 3-D flip cards · shuffled with unmastered cards first.
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tracking
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honestly — “I knew it” twice in a row marks a card mastered; a miss resets it. Deck tiles show mastery %, giving a concrete revision target.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· TASKS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else a semester needs</a:t>
            </a:r>
            <a:endParaRPr lang="en-US" sz="3000" dirty="0"/>
          </a:p>
        </p:txBody>
      </p:sp>
      <p:pic>
        <p:nvPicPr>
          <p:cNvPr id="4" name="Image 0" descr="C:/Users/HP/Desktop/school project/docs/screenshots/06_vau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069080" cy="26809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pic>
        <p:nvPicPr>
          <p:cNvPr id="5" name="Image 1" descr="C:/Users/HP/Desktop/school project/docs/screenshots/07_goal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25880"/>
            <a:ext cx="4069080" cy="2680946"/>
          </a:xfrm>
          <a:prstGeom prst="rect">
            <a:avLst/>
          </a:prstGeom>
          <a:effectLst>
            <a:outerShdw sx="100000" sy="100000" kx="0" ky="0" algn="bl" rotWithShape="0" blurRad="152400" dist="50800" dir="5400000">
              <a:srgbClr val="000000">
                <a:alpha val="35000"/>
              </a:srgbClr>
            </a:outerShdw>
          </a:effectLst>
        </p:spPr>
      </p:pic>
      <p:sp>
        <p:nvSpPr>
          <p:cNvPr id="6" name="Text 2"/>
          <p:cNvSpPr/>
          <p:nvPr/>
        </p:nvSpPr>
        <p:spPr>
          <a:xfrm>
            <a:off x="457200" y="41148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 — notes, images &amp; PDF past questions stored privately in IndexedDB</a:t>
            </a:r>
            <a:endParaRPr lang="en-US" sz="1150" dirty="0"/>
          </a:p>
        </p:txBody>
      </p:sp>
      <p:sp>
        <p:nvSpPr>
          <p:cNvPr id="7" name="Text 3"/>
          <p:cNvSpPr/>
          <p:nvPr/>
        </p:nvSpPr>
        <p:spPr>
          <a:xfrm>
            <a:off x="4663440" y="4114800"/>
            <a:ext cx="4069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— auto-grouped: Overdue · Due Today · Upcoming, with priorities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product: 12 defects repaired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 1 (before)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258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Version 2 (after)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B89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Uploads required Firebase + internet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IndexedDB file store — works fully offline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Logged 25 phantom minutes for 0 studied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Only real elapsed focus time can be logged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9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B+/C+ grades rendered unstyled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Full 8-letter colour scale, valid CSS classes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GPA scale contradicted letter scale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One authoritative Ghanaian 4.0 grading table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9F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Profile “Save” button did nothing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Profile saves &amp; updates UI instantly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Search &amp; notifications were decorative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F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E223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Real global search + live deadline alerts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4E7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9F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5262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hardened HTML escaping (XSS), drift-free timer, deduplicated CSS, offline avatar, dynamic semesters…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RESULTS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Tested like a user, not like a demo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633472" cy="1554480"/>
          </a:xfrm>
          <a:prstGeom prst="roundRect">
            <a:avLst>
              <a:gd name="adj" fmla="val 4706"/>
            </a:avLst>
          </a:prstGeom>
          <a:solidFill>
            <a:srgbClr val="F2F4FA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81328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361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20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test cases passed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73552" y="1371600"/>
            <a:ext cx="2633472" cy="1554480"/>
          </a:xfrm>
          <a:prstGeom prst="roundRect">
            <a:avLst>
              <a:gd name="adj" fmla="val 4706"/>
            </a:avLst>
          </a:prstGeom>
          <a:solidFill>
            <a:srgbClr val="F2F4FA"/>
          </a:solidFill>
          <a:ln/>
        </p:spPr>
      </p:sp>
      <p:sp>
        <p:nvSpPr>
          <p:cNvPr id="8" name="Text 6"/>
          <p:cNvSpPr/>
          <p:nvPr/>
        </p:nvSpPr>
        <p:spPr>
          <a:xfrm>
            <a:off x="3273552" y="1481328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3456432" y="2286000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 errors &amp; warnings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089904" y="1371600"/>
            <a:ext cx="2633472" cy="1554480"/>
          </a:xfrm>
          <a:prstGeom prst="roundRect">
            <a:avLst>
              <a:gd name="adj" fmla="val 4706"/>
            </a:avLst>
          </a:prstGeom>
          <a:solidFill>
            <a:srgbClr val="F2F4FA"/>
          </a:solidFill>
          <a:ln/>
        </p:spPr>
      </p:sp>
      <p:sp>
        <p:nvSpPr>
          <p:cNvPr id="11" name="Text 9"/>
          <p:cNvSpPr/>
          <p:nvPr/>
        </p:nvSpPr>
        <p:spPr>
          <a:xfrm>
            <a:off x="6089904" y="1481328"/>
            <a:ext cx="2633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0B8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272784" y="2286000"/>
            <a:ext cx="22677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work with Wi-Fi off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3246120"/>
            <a:ext cx="82296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user journeys exercised end-to-end: add/edit/delete courses, complete focus blocks, study decks, upload files, group tasks, export → reset → import round-trip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 covered: zero-minute logging rejected, unsupported file types rejected, invalid backups rejected</a:t>
            </a:r>
            <a:endParaRPr lang="en-US" sz="1350" dirty="0"/>
          </a:p>
          <a:p>
            <a:pPr marL="203200" indent="-2032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responsive from 360 px to desktop; light &amp; dark themes persist without flashes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limits, clear 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05072" cy="3337560"/>
          </a:xfrm>
          <a:prstGeom prst="roundRect">
            <a:avLst>
              <a:gd name="adj" fmla="val 2192"/>
            </a:avLst>
          </a:prstGeom>
          <a:solidFill>
            <a:srgbClr val="F2F4FA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508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2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limitations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85800" y="1920240"/>
            <a:ext cx="352044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lives in one browser profile — clearing site data without a backup loses it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 backups exclude uploaded binary files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streaks, not full spaced-repetition scheduling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B52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aggregate score per course (no itemised assessments)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681728" y="1325880"/>
            <a:ext cx="4005072" cy="3337560"/>
          </a:xfrm>
          <a:prstGeom prst="roundRect">
            <a:avLst>
              <a:gd name="adj" fmla="val 2192"/>
            </a:avLst>
          </a:prstGeom>
          <a:solidFill>
            <a:srgbClr val="12141F"/>
          </a:solidFill>
          <a:ln/>
        </p:spPr>
      </p:sp>
      <p:sp>
        <p:nvSpPr>
          <p:cNvPr id="8" name="Text 6"/>
          <p:cNvSpPr/>
          <p:nvPr/>
        </p:nvSpPr>
        <p:spPr>
          <a:xfrm>
            <a:off x="4910328" y="1508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 next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10328" y="1920240"/>
            <a:ext cx="35661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Assessment-level grades with final-grade projection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SM-2 spaced repetition with daily review queues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PWA packaging — installable, service-worker cached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end-to-end-encrypted sync to the student's own drive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backups that include vault files · deadline reminders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2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/Users/HP/Desktop/school project/docs/screenshots/09_dashboard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92040" y="1005840"/>
            <a:ext cx="3794760" cy="2500208"/>
          </a:xfrm>
          <a:prstGeom prst="rect">
            <a:avLst/>
          </a:prstGeom>
          <a:effectLst>
            <a:outerShdw sx="100000" sy="100000" kx="0" ky="0" algn="bl" rotWithShape="0" blurRad="203200" dist="63500" dir="5400000">
              <a:srgbClr val="000000">
                <a:alpha val="60000"/>
              </a:srgbClr>
            </a:outerShdw>
          </a:effectLst>
        </p:spPr>
      </p:pic>
      <p:sp>
        <p:nvSpPr>
          <p:cNvPr id="3" name="Text 0"/>
          <p:cNvSpPr/>
          <p:nvPr/>
        </p:nvSpPr>
        <p:spPr>
          <a:xfrm>
            <a:off x="457200" y="50292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457200" y="1188720"/>
            <a:ext cx="4114800" cy="2834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6C8C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alone is a complete application platform.
</a:t>
            </a:r>
            <a:endParaRPr lang="en-US" sz="1600" dirty="0"/>
          </a:p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50" dirty="0">
                <a:solidFill>
                  <a:srgbClr val="C2C7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GradeGuardian pairs learning science with careful front-end engineering to give every student — regardless of connectivity or budget — one private place to see the truth about their grades, their time and their revision…
</a:t>
            </a:r>
            <a:endParaRPr lang="en-US" sz="1600" dirty="0"/>
          </a:p>
          <a:p>
            <a:pPr indent="0" marL="0">
              <a:lnSpc>
                <a:spcPts val="1900"/>
              </a:lnSpc>
              <a:spcAft>
                <a:spcPts val="1000"/>
              </a:spcAft>
              <a:buNone/>
            </a:pPr>
            <a:r>
              <a:rPr lang="en-US" sz="135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…and to act on it before it's too late.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57200" y="4315968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72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457200" y="4681728"/>
            <a:ext cx="4114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A9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available — it even works with the Wi-Fi off.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GradeGuardian — Project Defense</dc:title>
  <dc:subject>PptxGenJS Presentation</dc:subject>
  <dc:creator>Richard Yawlui</dc:creator>
  <cp:lastModifiedBy>Richard Yawlui</cp:lastModifiedBy>
  <cp:revision>1</cp:revision>
  <dcterms:created xsi:type="dcterms:W3CDTF">2026-07-07T15:48:41Z</dcterms:created>
  <dcterms:modified xsi:type="dcterms:W3CDTF">2026-07-07T15:48:41Z</dcterms:modified>
</cp:coreProperties>
</file>