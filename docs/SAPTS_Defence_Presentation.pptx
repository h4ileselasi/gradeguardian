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7" autoAdjust="0"/>
    <p:restoredTop sz="86405" autoAdjust="0"/>
  </p:normalViewPr>
  <p:slideViewPr>
    <p:cSldViewPr snapToGrid="0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-1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341C2-8B9F-4FF6-B2DF-FF7F1918E19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F16F5-6EA5-4ED6-BB62-CFCFB7D7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94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Amend with appropriate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4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points on the general background to the project area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79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points on the identified problems and gaps in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mains aim and </a:t>
            </a:r>
            <a:r>
              <a:rPr lang="en-US" dirty="0" err="1"/>
              <a:t>specifici</a:t>
            </a:r>
            <a:r>
              <a:rPr lang="en-US" dirty="0"/>
              <a:t> objectives to achieve the aim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93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those the systems benefits and how it benefits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90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Maximum of 2 slides , with brief summaries of </a:t>
            </a:r>
            <a:r>
              <a:rPr lang="en-US" dirty="0" err="1"/>
              <a:t>saliet</a:t>
            </a:r>
            <a:r>
              <a:rPr lang="en-US" dirty="0"/>
              <a:t> related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24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methodology and </a:t>
            </a:r>
            <a:r>
              <a:rPr lang="en-US" dirty="0" err="1"/>
              <a:t>justifictaion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24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maximum of 3 slides on this section</a:t>
            </a:r>
          </a:p>
          <a:p>
            <a:r>
              <a:rPr lang="en-US" dirty="0"/>
              <a:t>Systems requirements and diagrams of specific analytical tools used in analyzing your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93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elements</a:t>
            </a:r>
          </a:p>
          <a:p>
            <a:r>
              <a:rPr lang="en-US" dirty="0"/>
              <a:t>Maximum 3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06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slides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13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of relevant references from the background to the study, problem statement, and </a:t>
            </a:r>
            <a:r>
              <a:rPr lang="en-US" dirty="0" err="1"/>
              <a:t>literarature</a:t>
            </a:r>
            <a:r>
              <a:rPr lang="en-US" dirty="0"/>
              <a:t>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F16F5-6EA5-4ED6-BB62-CFCFB7D7B0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9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1286-AC25-E86C-8A65-825FB36DE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8883C-8367-26CB-ECA4-70B28410B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56C37-3385-FA91-2BB1-8C1BA890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9E76-4B1B-4BC8-B408-536FAA98046D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93628-EE7B-2C7F-E1DD-4F4922E6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471F-55D4-1963-CEC4-34B37FE78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2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8769-9B61-9AF4-D16F-5A71D873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B27C-B031-DEB7-129D-A26673DF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A6982-FB23-7B8B-6808-4082D619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B0E2-7C11-4FCD-B2E0-B90DE6DBCDE6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8A66B-BF37-FDAB-027C-D25782FE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CC12-278D-6661-C10E-ADF5D566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8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89F9-6CCD-FE8E-2EF9-B2A18C06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0024F-6DBC-8B8F-EAAB-8E7E4B582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5F6B-C0E9-4664-BD36-D6B9844B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45CDD-9FD8-4BFB-84B3-91933141B221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3B75-2141-AF8B-F0F4-A90C967C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5447-6463-B2D7-D6EB-5A907463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46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D7A0-ED89-3FE1-F34B-C0944E0C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CEBB9-E463-855D-EEEC-BFEA80E14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96607-06B4-92E1-2530-ABA9A1C4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C09C5-D715-E6D3-7C7A-6CDAFFAF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EE55-3634-423A-A2DF-BA93DF64A8A2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E998C-3D92-A474-16B1-EB076582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DA873-860F-A65E-A6DC-8B4F66C4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9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D271-D187-4A66-4D58-F012AAFE9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DE980-08CB-552B-BEBF-2D597729D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2394D-BF31-0532-D384-E600BA507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DCE70-526B-2A52-E0E5-1D020FFD5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58759-1247-E3E6-AFFB-FCF919E84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29EF6-3897-A0EF-9641-5A7D0F54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73D48-094D-429A-B07F-4C8E6C69CC51}" type="datetime1">
              <a:rPr lang="en-US" smtClean="0"/>
              <a:t>9/28/2022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24203D-AA83-66C0-EE0D-1C060793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032FCF-9580-ADD4-DF0B-74235DC0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0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1C6F-DDE6-258F-92FC-098E2CA5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DAD31-B40C-05C4-DF3A-342C021C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8B1C-6C40-46CB-8338-B152BBEC07E9}" type="datetime1">
              <a:rPr lang="en-US" smtClean="0"/>
              <a:t>9/28/2022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1850D-CEA9-47A4-600F-38DD76C7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E418A-D39F-3D44-B2DC-65C89C65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4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AEB7E-A6D5-1516-E92E-96491DAC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266E-3ACB-4674-A536-92746977A9AA}" type="datetime1">
              <a:rPr lang="en-US" smtClean="0"/>
              <a:t>9/28/2022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FF216-EDBF-076B-D88A-3A70984F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1512D-0E47-62DF-B063-168AAD54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41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0334-2742-1002-5140-048C343F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6087-5164-EC1F-2CBD-C76D4D932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D5566-42C4-B0A2-57CA-386AD5EC6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08E17-5F92-5EB8-CC37-FE0F7F41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0CB4-2BBB-4A38-A028-B997878FD4D1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D7440-E130-47E0-532A-71F7D74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DBA52-CD90-2700-A578-5FCAA03A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22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4182-9A7A-6753-A333-838A0A9F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752ED-E85C-E21D-BF1C-6D3D573CF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51AA0-E775-2B45-B481-0ED56769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EDF2F-D27A-82A9-0AB3-2C19F2F0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A689-C3E3-4D32-B879-8A06EC859086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35642-9691-7D8F-C351-4C3DC4F6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4F138-EB3D-2B91-1451-A77D1877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8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05DB-223B-8A6E-FC93-84193E3F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2206C-E733-E75A-C95C-11DA5010D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C9B3-2375-BAE9-DA91-ACF63597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F2B2-726B-4735-9D2D-DC3DE3A3BC42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9FD6-FC89-30BD-9178-06397FA3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FFD98-0E70-DC17-0365-7EF3D326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7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7B1A9-DCC7-609C-3611-1A5FE41AF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02552-16B1-7FDC-1619-90BF2C4B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CB009-A8F8-0079-3E00-B8FF3DFB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367E8-88A7-4766-97DB-4E5949858010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531DB-E038-9E91-9AEE-596C6453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C8F7-6A2D-9195-DF1F-61642CDF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6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34323-6339-1F8D-A69F-E8B6DB44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EB127-033F-D55B-FD2E-1299E6431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63A72-70FE-CFFD-627F-7C75881B8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AD0FF-2C0C-40B1-A847-AD2BCDFEF045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3D47-A88D-21FF-4A89-F7636493C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GCTU_FOCIS  IT DEPART22MENT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D9A4B-B7AB-BF1E-B4D1-25E152EF4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A056F-E7A0-41BD-834E-633F26AC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C253-7B81-9AC4-7401-7035EAE66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3251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Ghana communication technology University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E71EC-0F8E-430C-9EC3-214D866FA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510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Department of Information Technology</a:t>
            </a:r>
          </a:p>
          <a:p>
            <a:pPr marL="0" indent="0">
              <a:buNone/>
            </a:pPr>
            <a:r>
              <a:rPr lang="en-GB" dirty="0"/>
              <a:t>BSc. Information Technology</a:t>
            </a:r>
          </a:p>
          <a:p>
            <a:pPr marL="0" indent="0">
              <a:buNone/>
            </a:pPr>
            <a:r>
              <a:rPr lang="en-GB" dirty="0"/>
              <a:t>STUDENT ACADEMIC PROGRESS TRACKING SYSTEM</a:t>
            </a:r>
          </a:p>
          <a:p>
            <a:pPr marL="0" indent="0">
              <a:buNone/>
            </a:pPr>
            <a:r>
              <a:rPr lang="en-GB" dirty="0"/>
              <a:t>4211231018  —  RICHARD YAWLUI</a:t>
            </a:r>
          </a:p>
          <a:p>
            <a:pPr marL="0" indent="0">
              <a:buNone/>
            </a:pPr>
            <a:r>
              <a:rPr lang="en-GB" dirty="0"/>
              <a:t>4211231161  —  ADDO FOSTER KETEKU</a:t>
            </a:r>
          </a:p>
          <a:p>
            <a:pPr marL="0" indent="0">
              <a:buNone/>
            </a:pPr>
            <a:r>
              <a:rPr lang="en-GB" dirty="0"/>
              <a:t>Supervisor: Mr. Frank Boateng</a:t>
            </a:r>
          </a:p>
          <a:p>
            <a:pPr marL="0" indent="0">
              <a:buNone/>
            </a:pPr>
            <a:r>
              <a:rPr lang="en-GB" dirty="0"/>
              <a:t>September,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BAC87-FD2D-FDF2-E9BB-556B17040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065" y="76961"/>
            <a:ext cx="2143125" cy="190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77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9F07B-4BBF-C7FA-5ABF-6BDE06B1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TO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B303-3C0E-17EC-5152-A2AA2071D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Students manage several courses, each with its own assessments and deadlines.</a:t>
            </a:r>
          </a:p>
          <a:p>
            <a:r>
              <a:rPr lang="en-GB" dirty="0"/>
              <a:t>Progress is tracked across notebooks, calculators and calendars that do not communicate.</a:t>
            </a:r>
          </a:p>
          <a:p>
            <a:r>
              <a:rPr lang="en-GB" dirty="0"/>
              <a:t>Nothing connects study hours to the marks eventually received.</a:t>
            </a:r>
          </a:p>
          <a:p>
            <a:r>
              <a:rPr lang="en-GB" dirty="0"/>
              <a:t>Zimmerman (2002): metacognitive awareness correlates strongly with achievement.</a:t>
            </a:r>
          </a:p>
          <a:p>
            <a:r>
              <a:rPr lang="en-GB" dirty="0"/>
              <a:t>A technology university is well placed to solve this for its own students.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E416F-1121-8B34-80CF-EE513D4B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7681-5F33-258E-C066-A16F2E50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2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9492-5FC3-268A-01CD-661D4E3B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F229E-87EB-FC40-71C1-B237647D6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Students have no integrated means of monitoring academic progress:</a:t>
            </a:r>
          </a:p>
          <a:p>
            <a:r>
              <a:rPr lang="en-GB" dirty="0"/>
              <a:t>Fragmented data — marks, deadlines and notes held in unconnected places.</a:t>
            </a:r>
          </a:p>
          <a:p>
            <a:r>
              <a:rPr lang="en-GB" dirty="0"/>
              <a:t>No visualisation — a bare mark hides trends and improvement.</a:t>
            </a:r>
          </a:p>
          <a:p>
            <a:r>
              <a:rPr lang="en-GB" dirty="0"/>
              <a:t>Effort disconnected from outcome — study time is never recorded.</a:t>
            </a:r>
          </a:p>
          <a:p>
            <a:r>
              <a:rPr lang="en-GB" dirty="0"/>
              <a:t>Unstructured goals — objectives are never broken into trackable steps.</a:t>
            </a:r>
          </a:p>
          <a:p>
            <a:pPr marL="0" indent="0">
              <a:buNone/>
            </a:pPr>
            <a:r>
              <a:rPr lang="en-GB" dirty="0"/>
              <a:t>Generic tools have no concept of credit hours or assessment weighting.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F0462-9FC0-550F-337D-5C115787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A0BCB-D680-3D28-3A8A-46B2F3A4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394675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9C19-AC4F-4D24-B3C3-79ED13A5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7F18D-C38C-5BD4-3EFF-B6343D70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Aim</a:t>
            </a:r>
          </a:p>
          <a:p>
            <a:pPr lvl="1"/>
            <a:r>
              <a:rPr lang="en-GB" dirty="0"/>
              <a:t>To design, develop and evaluate a web-based Student Academic Progress Tracking System, with an account for each student, deployed on XAMPP.</a:t>
            </a:r>
          </a:p>
          <a:p>
            <a:pPr marL="0" indent="0">
              <a:buNone/>
            </a:pPr>
            <a:r>
              <a:rPr lang="en-GB" b="1" dirty="0"/>
              <a:t>Objectives</a:t>
            </a:r>
          </a:p>
          <a:p>
            <a:pPr lvl="1"/>
            <a:r>
              <a:rPr lang="en-GB" dirty="0"/>
              <a:t>Analyse student tracking needs.</a:t>
            </a:r>
          </a:p>
          <a:p>
            <a:pPr lvl="1"/>
            <a:r>
              <a:rPr lang="en-GB" dirty="0"/>
              <a:t>Design an intuitive, responsive interface.</a:t>
            </a:r>
          </a:p>
          <a:p>
            <a:pPr lvl="1"/>
            <a:r>
              <a:rPr lang="en-GB" dirty="0"/>
              <a:t>Develop the core academic modules.</a:t>
            </a:r>
          </a:p>
          <a:p>
            <a:pPr lvl="1"/>
            <a:r>
              <a:rPr lang="en-GB" dirty="0"/>
              <a:t>Implement a relational data layer with access control.</a:t>
            </a:r>
          </a:p>
          <a:p>
            <a:pPr lvl="1"/>
            <a:r>
              <a:rPr lang="en-GB" dirty="0"/>
              <a:t>Provide administrator enrolment of students.</a:t>
            </a:r>
          </a:p>
          <a:p>
            <a:pPr lvl="1"/>
            <a:r>
              <a:rPr lang="en-GB" dirty="0"/>
              <a:t>Test for correctness, usability, security and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ABCB4-E8FD-CEFC-1014-37BCE112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A7A64-C063-04C7-3C9D-2606493E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1479357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8D6F-222B-755E-54FF-87777D48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0EFC-A48D-2AA2-0BDD-392A0BCD7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Practical — deployable by a department on one machine, at no cost and without internet.</a:t>
            </a:r>
          </a:p>
          <a:p>
            <a:r>
              <a:rPr lang="en-GB" dirty="0"/>
              <a:t>Privacy — records never leave the institution's own hardware.</a:t>
            </a:r>
          </a:p>
          <a:p>
            <a:r>
              <a:rPr lang="en-GB" dirty="0"/>
              <a:t>Academic — operationalises Self-Regulated Learning theory in software.</a:t>
            </a:r>
          </a:p>
          <a:p>
            <a:r>
              <a:rPr lang="en-GB" dirty="0"/>
              <a:t>Technical — a complete multi-user system on the free XAMPP stack.</a:t>
            </a:r>
          </a:p>
          <a:p>
            <a:r>
              <a:rPr lang="en-GB" dirty="0"/>
              <a:t>For the Faculty — a documented reference implementation for later projects.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F0D3B-A3B5-908B-D54E-AC93F87C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62F7-8327-7EFB-E171-FAD87590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72188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F7B4-F22C-70CF-F381-0C48BAD2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1DCC-6E6C-F874-7DD2-9DBD123C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Theoretical framework — Self-Regulated Learning (Zimmerman, 2002)</a:t>
            </a:r>
          </a:p>
          <a:p>
            <a:pPr lvl="1"/>
            <a:r>
              <a:rPr lang="en-GB" dirty="0"/>
              <a:t>Forethought → goals; Performance → study tracker; Reflection → grade analysis.</a:t>
            </a:r>
          </a:p>
          <a:p>
            <a:pPr marL="0" indent="0">
              <a:buNone/>
            </a:pPr>
            <a:r>
              <a:rPr lang="en-GB" b="1" dirty="0"/>
              <a:t>Feedback and assessment</a:t>
            </a:r>
          </a:p>
          <a:p>
            <a:pPr lvl="1"/>
            <a:r>
              <a:rPr lang="en-GB" dirty="0"/>
              <a:t>Black and Wiliam (1998); Hattie and Timperley (2007) — feedback works when it relates performance to a goal.</a:t>
            </a:r>
          </a:p>
          <a:p>
            <a:pPr marL="0" indent="0">
              <a:buNone/>
            </a:pPr>
            <a:r>
              <a:rPr lang="en-GB" b="1" dirty="0"/>
              <a:t>Systems reviewed</a:t>
            </a:r>
          </a:p>
          <a:p>
            <a:pPr lvl="1"/>
            <a:r>
              <a:rPr lang="en-GB" dirty="0"/>
              <a:t>MyStudyLife, Todoist, grade calculators, institutional LMS and SIS, Course Signals.</a:t>
            </a:r>
          </a:p>
          <a:p>
            <a:pPr marL="0" indent="0">
              <a:buNone/>
            </a:pPr>
            <a:r>
              <a:rPr lang="en-GB" b="1" dirty="0"/>
              <a:t>Research gap</a:t>
            </a:r>
          </a:p>
          <a:p>
            <a:pPr lvl="1"/>
            <a:r>
              <a:rPr lang="en-GB" dirty="0"/>
              <a:t>None combines integration, visualisation, academic specificity and zero cost.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3ED9E-38C7-A002-A388-6FCBA144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473CE-F599-7620-0DED-866EAF59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3826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54EB-3580-F211-C7E9-79E04BDA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B395-27D0-4361-2755-F6FC4DD4C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Research design</a:t>
            </a:r>
          </a:p>
          <a:p>
            <a:pPr lvl="1"/>
            <a:r>
              <a:rPr lang="en-GB" dirty="0"/>
              <a:t>System development — the question is answered by building an artefact and evaluating it.</a:t>
            </a:r>
          </a:p>
          <a:p>
            <a:pPr marL="0" indent="0">
              <a:buNone/>
            </a:pPr>
            <a:r>
              <a:rPr lang="en-GB" b="1" dirty="0"/>
              <a:t>Data collection</a:t>
            </a:r>
          </a:p>
          <a:p>
            <a:pPr lvl="1"/>
            <a:r>
              <a:rPr lang="en-GB" dirty="0"/>
              <a:t>Interviews with students and lecturers; observation of record-keeping; review of existing tools.</a:t>
            </a:r>
          </a:p>
          <a:p>
            <a:pPr marL="0" indent="0">
              <a:buNone/>
            </a:pPr>
            <a:r>
              <a:rPr lang="en-GB" b="1" dirty="0"/>
              <a:t>Development model — Waterfall (Royce, 1970)</a:t>
            </a:r>
          </a:p>
          <a:p>
            <a:pPr lvl="1"/>
            <a:r>
              <a:rPr lang="en-GB" dirty="0"/>
              <a:t>Requirements → Design → Implementation → Testing → Deployment.</a:t>
            </a:r>
          </a:p>
          <a:p>
            <a:pPr lvl="1"/>
            <a:r>
              <a:rPr lang="en-GB" dirty="0"/>
              <a:t>Chosen because requirements were stable and each phase yields a documented deliverable.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3991-C807-3CE3-D513-37C68A7E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5C016-EF06-6FDF-A5EC-234E0CBA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97433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ADCB-3468-B81C-F064-97EF2DD2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6EBAB-7654-F77A-86EB-BC71880DC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Actors</a:t>
            </a:r>
          </a:p>
          <a:p>
            <a:pPr lvl="1"/>
            <a:r>
              <a:rPr lang="en-GB" dirty="0"/>
              <a:t>Student — all academic tracking. Administrator — enrols students, but cannot read marks.</a:t>
            </a:r>
          </a:p>
          <a:p>
            <a:pPr marL="0" indent="0">
              <a:buNone/>
            </a:pPr>
            <a:r>
              <a:rPr lang="en-GB" b="1" dirty="0"/>
              <a:t>Functional requirements (13)</a:t>
            </a:r>
          </a:p>
          <a:p>
            <a:pPr lvl="1"/>
            <a:r>
              <a:rPr lang="en-GB" dirty="0"/>
              <a:t>Authentication, enrolment, record separation, courses, weighted assessment and GPA, study logging, goals, flashcards, vault, charts, persistence, backup.</a:t>
            </a:r>
          </a:p>
          <a:p>
            <a:pPr marL="0" indent="0">
              <a:buNone/>
            </a:pPr>
            <a:r>
              <a:rPr lang="en-GB" b="1" dirty="0"/>
              <a:t>Non-functional requirements (8)</a:t>
            </a:r>
          </a:p>
          <a:p>
            <a:pPr lvl="1"/>
            <a:r>
              <a:rPr lang="en-GB" dirty="0"/>
              <a:t>Responsive 360–1920 px; interactive within 3 seconds; learnable in 10 minutes; hashed passwords; reliability; offline operation; maintainability; auditability.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7D4F6-F4A4-A0C1-F7C4-FEF591AE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7272E-88F2-AE6F-3BD7-B9C18CA8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57561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6C92-370E-1A52-99D6-4EE49AA1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A7D7-D6BB-46A2-BA74-C14909FC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Three-tier architecture across client and server</a:t>
            </a:r>
          </a:p>
          <a:p>
            <a:pPr lvl="1"/>
            <a:r>
              <a:rPr lang="en-GB" dirty="0"/>
              <a:t>Presentation — HTML5, CSS3. Logic — JavaScript in the browser, PHP 8 on the server. Data — MySQL.</a:t>
            </a:r>
          </a:p>
          <a:p>
            <a:pPr marL="0" indent="0">
              <a:buNone/>
            </a:pPr>
            <a:r>
              <a:rPr lang="en-GB" b="1" dirty="0"/>
              <a:t>Database</a:t>
            </a:r>
          </a:p>
          <a:p>
            <a:pPr lvl="1"/>
            <a:r>
              <a:rPr lang="en-GB" dirty="0"/>
              <a:t>Eight tables with primary keys, foreign keys and check constraints; four views reproducing the grade and GPA calculations in SQL.</a:t>
            </a:r>
          </a:p>
          <a:p>
            <a:pPr marL="0" indent="0">
              <a:buNone/>
            </a:pPr>
            <a:r>
              <a:rPr lang="en-GB" b="1" dirty="0"/>
              <a:t>Security</a:t>
            </a:r>
          </a:p>
          <a:p>
            <a:pPr lvl="1"/>
            <a:r>
              <a:rPr lang="en-GB" dirty="0"/>
              <a:t>bcrypt hashing (cost 12); HttpOnly SameSite sessions; CSRF tokens; PDO prepared statements; every query filtered by the account in the session.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C8C9-026F-E930-9510-4E84A30C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8E018-D79D-234B-77D5-3772EC8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3881199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D7CA-5E3F-DA45-F305-07B50A78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52E3-D07D-6D19-B5DA-AEED16505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HTML5, CSS3 and JavaScript on the client; PHP 8 and MySQL on the server; hosted on XAMPP at http://localhost/sapts/.</a:t>
            </a:r>
          </a:p>
          <a:p>
            <a:r>
              <a:rPr lang="en-GB" dirty="0"/>
              <a:t>Eight student modules plus an administrator enrolment console.</a:t>
            </a:r>
          </a:p>
          <a:p>
            <a:r>
              <a:rPr lang="en-GB" dirty="0"/>
              <a:t>Tested: correct, wrong and unknown sign-in; forced first-password change; a course added in the interface arriving correctly in the database.</a:t>
            </a:r>
          </a:p>
          <a:p>
            <a:r>
              <a:rPr lang="en-GB" dirty="0"/>
              <a:t>A second student could not see the first student's records; administrator routes return 403 to a student.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D98AC-C4EA-0AD5-6508-EE9821D3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93F42-5FB5-4F58-AEA9-6DD0558E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2314901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9E36-84F8-A340-035B-3D495122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0F87B-D5E2-75FD-7857-2BE1F8BCF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Conclusions</a:t>
            </a:r>
          </a:p>
          <a:p>
            <a:pPr lvl="1"/>
            <a:r>
              <a:rPr lang="en-GB" dirty="0"/>
              <a:t>Grading, study tracking, revision and goal setting are consolidated into one interface, closing the gap found in the literature.</a:t>
            </a:r>
          </a:p>
          <a:p>
            <a:pPr lvl="1"/>
            <a:r>
              <a:rPr lang="en-GB" dirty="0"/>
              <a:t>Records are held under each student's own account and are unreadable to others.</a:t>
            </a:r>
          </a:p>
          <a:p>
            <a:pPr lvl="1"/>
            <a:r>
              <a:rPr lang="en-GB" dirty="0"/>
              <a:t>A multi-user academic system can run entirely on the free XAMPP stack.</a:t>
            </a:r>
          </a:p>
          <a:p>
            <a:pPr marL="0" indent="0">
              <a:buNone/>
            </a:pPr>
            <a:r>
              <a:rPr lang="en-GB" b="1" dirty="0"/>
              <a:t>Recommendations</a:t>
            </a:r>
          </a:p>
          <a:p>
            <a:pPr lvl="1"/>
            <a:r>
              <a:rPr lang="en-GB" dirty="0"/>
              <a:t>Serve over HTTPS before any network deployment.</a:t>
            </a:r>
          </a:p>
          <a:p>
            <a:pPr lvl="1"/>
            <a:r>
              <a:rPr lang="en-GB" dirty="0"/>
              <a:t>Import marks automatically from the institutional LMS.</a:t>
            </a:r>
          </a:p>
          <a:p>
            <a:pPr lvl="1"/>
            <a:r>
              <a:rPr lang="en-GB" dirty="0"/>
              <a:t>Add a lecturer role for aggregate, anonymised course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DD5B3-A4F0-0C20-27EA-ECA1C3AE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F447A-4FCF-2C10-63C4-26BADAA2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135229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4045-DA04-B594-1B62-3A223FAD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E053-71DE-C524-5E96-61FD06CB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 dirty="0"/>
              <a:t>Arnold, KE and Pistilli, MD (2012) 'Course Signals at Purdue', Proc. LAK '12, 267-270</a:t>
            </a:r>
          </a:p>
          <a:p>
            <a:pPr lvl="1"/>
            <a:r>
              <a:rPr lang="en-GB" dirty="0"/>
              <a:t>Black, P and Wiliam, D (1998) 'Assessment and classroom learning', Assessment in Education, 5:1, 7-74</a:t>
            </a:r>
          </a:p>
          <a:p>
            <a:pPr lvl="1"/>
            <a:r>
              <a:rPr lang="en-GB" dirty="0"/>
              <a:t>Hattie, J and Timperley, H (2007) 'The power of feedback', Rev. Educational Research, 77:1, 81-112</a:t>
            </a:r>
          </a:p>
          <a:p>
            <a:pPr lvl="1"/>
            <a:r>
              <a:rPr lang="en-GB" dirty="0"/>
              <a:t>Nielsen, J (1994) Usability Engineering, Morgan Kaufmann, San Francisco</a:t>
            </a:r>
          </a:p>
          <a:p>
            <a:pPr lvl="1"/>
            <a:r>
              <a:rPr lang="en-GB" dirty="0"/>
              <a:t>Royce, WW (1970) 'Managing the development of large software systems', Proc. IEEE WESCON, 1-9</a:t>
            </a:r>
          </a:p>
          <a:p>
            <a:pPr lvl="1"/>
            <a:r>
              <a:rPr lang="en-GB" dirty="0"/>
              <a:t>Sommerville, I (2016) Software Engineering (10th edn), Pearson Education, Harlow</a:t>
            </a:r>
          </a:p>
          <a:p>
            <a:pPr lvl="1"/>
            <a:r>
              <a:rPr lang="en-GB" dirty="0"/>
              <a:t>Zimmerman, BJ (2002) 'Becoming a self-regulated learner', Theory Into Practice, 41:2, 64-70</a:t>
            </a:r>
          </a:p>
          <a:p>
            <a:pPr lvl="1" marL="0" indent="0">
              <a:buNone/>
            </a:pPr>
            <a:r>
              <a:rPr lang="en-GB" dirty="0"/>
              <a:t>The full reference list appears in the project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9C923-ED13-A430-6A9C-ED20182D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A056F-E7A0-41BD-834E-633F26AC23D3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5C273-A57D-0204-6F9F-ED12BD16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GCTU_FOCIS  IT DEPART22MENT 2022</a:t>
            </a:r>
          </a:p>
        </p:txBody>
      </p:sp>
    </p:spTree>
    <p:extLst>
      <p:ext uri="{BB962C8B-B14F-4D97-AF65-F5344CB8AC3E}">
        <p14:creationId xmlns:p14="http://schemas.microsoft.com/office/powerpoint/2010/main" val="254052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266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Ghana communication technology University</vt:lpstr>
      <vt:lpstr>BACKGROUND TO THE STUDY</vt:lpstr>
      <vt:lpstr>PROBLEM STATEMENT</vt:lpstr>
      <vt:lpstr>AIM  &amp; OBJECTIVES</vt:lpstr>
      <vt:lpstr>SIGNIFICANCE OF THE STUDY</vt:lpstr>
      <vt:lpstr>LITERATURE REVIEW</vt:lpstr>
      <vt:lpstr>METHODOLOGY</vt:lpstr>
      <vt:lpstr>SYSTEMS ANALYSIS</vt:lpstr>
      <vt:lpstr>SYSTEM DESIGN</vt:lpstr>
      <vt:lpstr>SYSTEM IMPLEMENTATION</vt:lpstr>
      <vt:lpstr>CONCLUSIONS AND RECOMMENDATIONS </vt:lpstr>
      <vt:lpstr>REFERENCES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Ghana communication technology University</dc:title>
  <dc:creator>William Leslie Brown-Acquaye</dc:creator>
  <cp:lastModifiedBy>William Leslie Brown-Acquaye</cp:lastModifiedBy>
  <cp:revision>1</cp:revision>
  <dcterms:created xsi:type="dcterms:W3CDTF">2022-09-28T05:49:18Z</dcterms:created>
  <dcterms:modified xsi:type="dcterms:W3CDTF">2022-09-28T06:19:06Z</dcterms:modified>
</cp:coreProperties>
</file>