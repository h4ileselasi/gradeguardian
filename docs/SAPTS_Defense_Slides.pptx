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41648" y="685800"/>
            <a:ext cx="1060704" cy="1060704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3" name="Text 1"/>
          <p:cNvSpPr/>
          <p:nvPr/>
        </p:nvSpPr>
        <p:spPr>
          <a:xfrm>
            <a:off x="4041648" y="685800"/>
            <a:ext cx="1060704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🎓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SAPTS</a:t>
            </a:r>
            <a:pPr algn="ctr" indent="0" marL="0">
              <a:buNone/>
            </a:pPr>
            <a:r>
              <a:rPr lang="en-US" sz="5400" b="1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371600" y="26974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2C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Academic Progress Tracking System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28600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Term Project Defense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38862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 Yawlui — 4211231018  ·  Addo Foster Keteku — 4211231161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A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·  July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lose marks they could have kept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05072" cy="1463040"/>
          </a:xfrm>
          <a:prstGeom prst="roundRect">
            <a:avLst>
              <a:gd name="adj" fmla="val 5000"/>
            </a:avLst>
          </a:prstGeom>
          <a:solidFill>
            <a:srgbClr val="F2F4F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27632"/>
            <a:ext cx="512064" cy="512064"/>
          </a:xfrm>
          <a:prstGeom prst="ellipse">
            <a:avLst/>
          </a:prstGeom>
          <a:solidFill>
            <a:srgbClr val="F72585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" y="1609344"/>
            <a:ext cx="6217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51790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blindness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8745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is discovered when results are published — too late to react to a failing course.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81728" y="1371600"/>
            <a:ext cx="4005072" cy="1463040"/>
          </a:xfrm>
          <a:prstGeom prst="roundRect">
            <a:avLst>
              <a:gd name="adj" fmla="val 5000"/>
            </a:avLst>
          </a:prstGeom>
          <a:solidFill>
            <a:srgbClr val="F2F4FA"/>
          </a:solidFill>
          <a:ln/>
        </p:spPr>
      </p:sp>
      <p:sp>
        <p:nvSpPr>
          <p:cNvPr id="10" name="Shape 8"/>
          <p:cNvSpPr/>
          <p:nvPr/>
        </p:nvSpPr>
        <p:spPr>
          <a:xfrm>
            <a:off x="4910328" y="1627632"/>
            <a:ext cx="512064" cy="512064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1" name="Text 9"/>
          <p:cNvSpPr/>
          <p:nvPr/>
        </p:nvSpPr>
        <p:spPr>
          <a:xfrm>
            <a:off x="4855464" y="1609344"/>
            <a:ext cx="6217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96128" y="151790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Unmeasured study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96128" y="18745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Studying happens in unplanned bursts; neglected courses stay invisible until the exam.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4005072" cy="1463040"/>
          </a:xfrm>
          <a:prstGeom prst="roundRect">
            <a:avLst>
              <a:gd name="adj" fmla="val 5000"/>
            </a:avLst>
          </a:prstGeom>
          <a:solidFill>
            <a:srgbClr val="F2F4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3319272"/>
            <a:ext cx="512064" cy="51206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" y="3300984"/>
            <a:ext cx="6217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20954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revision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56616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Re-reading notes feels productive but is one of the least effective techniques known.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81728" y="3063240"/>
            <a:ext cx="4005072" cy="1463040"/>
          </a:xfrm>
          <a:prstGeom prst="roundRect">
            <a:avLst>
              <a:gd name="adj" fmla="val 5000"/>
            </a:avLst>
          </a:prstGeom>
          <a:solidFill>
            <a:srgbClr val="F2F4FA"/>
          </a:solidFill>
          <a:ln/>
        </p:spPr>
      </p:sp>
      <p:sp>
        <p:nvSpPr>
          <p:cNvPr id="20" name="Shape 18"/>
          <p:cNvSpPr/>
          <p:nvPr/>
        </p:nvSpPr>
        <p:spPr>
          <a:xfrm>
            <a:off x="4910328" y="3319272"/>
            <a:ext cx="512064" cy="512064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21" name="Text 19"/>
          <p:cNvSpPr/>
          <p:nvPr/>
        </p:nvSpPr>
        <p:spPr>
          <a:xfrm>
            <a:off x="4855464" y="3300984"/>
            <a:ext cx="6217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96128" y="320954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deadlines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96128" y="356616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live on notice boards and group chats; overdue work is found by accident.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solve fragments of this — and almost all need internet, accounts or subscriptions.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&amp;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40480" cy="3383280"/>
          </a:xfrm>
          <a:prstGeom prst="roundRect">
            <a:avLst>
              <a:gd name="adj" fmla="val 2162"/>
            </a:avLst>
          </a:prstGeom>
          <a:solidFill>
            <a:srgbClr val="12141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build a free, fully offline, browser-based academic companion that helps students monitor and improve their performance.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617720" y="1371600"/>
            <a:ext cx="40690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manager with automatic GPA on the 4.0 scale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Pomodoro study tracker with automatic logging &amp; streaks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Active-recall flashcards with mastery tracking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on-device vault for notes &amp; past questions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Deadline-aware tasks with notifications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internet, zero accounts — full backup &amp; restore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how learning actually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33472" cy="3246120"/>
          </a:xfrm>
          <a:prstGeom prst="roundRect">
            <a:avLst>
              <a:gd name="adj" fmla="val 2778"/>
            </a:avLst>
          </a:prstGeom>
          <a:solidFill>
            <a:srgbClr val="F2F4FA"/>
          </a:solidFill>
          <a:ln/>
        </p:spPr>
      </p:sp>
      <p:sp>
        <p:nvSpPr>
          <p:cNvPr id="5" name="Shape 3"/>
          <p:cNvSpPr/>
          <p:nvPr/>
        </p:nvSpPr>
        <p:spPr>
          <a:xfrm>
            <a:off x="1490472" y="1600200"/>
            <a:ext cx="566928" cy="566928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6" name="Text 4"/>
          <p:cNvSpPr/>
          <p:nvPr/>
        </p:nvSpPr>
        <p:spPr>
          <a:xfrm>
            <a:off x="1435608" y="1581912"/>
            <a:ext cx="6766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2359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recall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651760"/>
            <a:ext cx="22311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yourself beats re-reading for long-term retention.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3429000"/>
            <a:ext cx="2231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Roediger &amp; Karpicke (2006)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3794760"/>
            <a:ext cx="22311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Flashcards make you answer before you flip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73552" y="1325880"/>
            <a:ext cx="2633472" cy="3246120"/>
          </a:xfrm>
          <a:prstGeom prst="roundRect">
            <a:avLst>
              <a:gd name="adj" fmla="val 2778"/>
            </a:avLst>
          </a:prstGeom>
          <a:solidFill>
            <a:srgbClr val="F2F4FA"/>
          </a:solidFill>
          <a:ln/>
        </p:spPr>
      </p:sp>
      <p:sp>
        <p:nvSpPr>
          <p:cNvPr id="12" name="Shape 10"/>
          <p:cNvSpPr/>
          <p:nvPr/>
        </p:nvSpPr>
        <p:spPr>
          <a:xfrm>
            <a:off x="4306824" y="1600200"/>
            <a:ext cx="566928" cy="566928"/>
          </a:xfrm>
          <a:prstGeom prst="ellipse">
            <a:avLst/>
          </a:prstGeom>
          <a:solidFill>
            <a:srgbClr val="F72585"/>
          </a:solidFill>
          <a:ln/>
        </p:spPr>
      </p:sp>
      <p:sp>
        <p:nvSpPr>
          <p:cNvPr id="13" name="Text 11"/>
          <p:cNvSpPr/>
          <p:nvPr/>
        </p:nvSpPr>
        <p:spPr>
          <a:xfrm>
            <a:off x="4251960" y="1581912"/>
            <a:ext cx="6766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📆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10712" y="2286000"/>
            <a:ext cx="2359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practice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2651760"/>
            <a:ext cx="22311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spaced across days beats cramming the night before.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3429000"/>
            <a:ext cx="2231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Cepeda et al. (2006)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3794760"/>
            <a:ext cx="22311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Streaks &amp; 7-day charts reward consistency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89904" y="1325880"/>
            <a:ext cx="2633472" cy="3246120"/>
          </a:xfrm>
          <a:prstGeom prst="roundRect">
            <a:avLst>
              <a:gd name="adj" fmla="val 2778"/>
            </a:avLst>
          </a:prstGeom>
          <a:solidFill>
            <a:srgbClr val="F2F4FA"/>
          </a:solidFill>
          <a:ln/>
        </p:spPr>
      </p:sp>
      <p:sp>
        <p:nvSpPr>
          <p:cNvPr id="19" name="Shape 17"/>
          <p:cNvSpPr/>
          <p:nvPr/>
        </p:nvSpPr>
        <p:spPr>
          <a:xfrm>
            <a:off x="7123176" y="1600200"/>
            <a:ext cx="566928" cy="566928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20" name="Text 18"/>
          <p:cNvSpPr/>
          <p:nvPr/>
        </p:nvSpPr>
        <p:spPr>
          <a:xfrm>
            <a:off x="7068312" y="1581912"/>
            <a:ext cx="6766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🍅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27064" y="2286000"/>
            <a:ext cx="2359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Time-boxing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91072" y="2651760"/>
            <a:ext cx="22311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focus intervals with short breaks sustain attention.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91072" y="3429000"/>
            <a:ext cx="2231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Cirillo (2006)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91072" y="3794760"/>
            <a:ext cx="22311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Built-in Pomodoro timer logs real focus time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local — the browser is the whole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577840" cy="731520"/>
          </a:xfrm>
          <a:prstGeom prst="roundRect">
            <a:avLst>
              <a:gd name="adj" fmla="val 10000"/>
            </a:avLst>
          </a:prstGeom>
          <a:solidFill>
            <a:srgbClr val="F2F4F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27048"/>
            <a:ext cx="1417320" cy="420624"/>
          </a:xfrm>
          <a:prstGeom prst="roundRect">
            <a:avLst>
              <a:gd name="adj" fmla="val 13043"/>
            </a:avLst>
          </a:prstGeom>
          <a:solidFill>
            <a:srgbClr val="4361E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27048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212848" y="1444752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pages · hash router · CSS-variable theme system (light/dark) · Chart.js visualisations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5577840" cy="731520"/>
          </a:xfrm>
          <a:prstGeom prst="roundRect">
            <a:avLst>
              <a:gd name="adj" fmla="val 10000"/>
            </a:avLst>
          </a:prstGeom>
          <a:solidFill>
            <a:srgbClr val="F2F4FA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395728"/>
            <a:ext cx="1417320" cy="420624"/>
          </a:xfrm>
          <a:prstGeom prst="roundRect">
            <a:avLst>
              <a:gd name="adj" fmla="val 13043"/>
            </a:avLst>
          </a:prstGeom>
          <a:solidFill>
            <a:srgbClr val="F7258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95728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212848" y="2313432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modules: courses · grades · timer · flashcards · vault · tasks · search · settings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5577840" cy="731520"/>
          </a:xfrm>
          <a:prstGeom prst="roundRect">
            <a:avLst>
              <a:gd name="adj" fmla="val 10000"/>
            </a:avLst>
          </a:prstGeom>
          <a:solidFill>
            <a:srgbClr val="F2F4FA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264408"/>
            <a:ext cx="1417320" cy="420624"/>
          </a:xfrm>
          <a:prstGeom prst="roundRect">
            <a:avLst>
              <a:gd name="adj" fmla="val 13043"/>
            </a:avLst>
          </a:prstGeom>
          <a:solidFill>
            <a:srgbClr val="00B89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64408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212848" y="3182112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(structured data)  +  IndexedDB (image &amp; PDF blobs)  ·  JSON export / import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1371600"/>
            <a:ext cx="2423160" cy="2514600"/>
          </a:xfrm>
          <a:prstGeom prst="roundRect">
            <a:avLst>
              <a:gd name="adj" fmla="val 3019"/>
            </a:avLst>
          </a:prstGeom>
          <a:solidFill>
            <a:srgbClr val="12141F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160020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build step.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framework.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46520" y="288036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2C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vanilla JavaScript. Fonts, icons and Chart.js are bundled — it runs with Wi-Fi off.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1605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 → it just works.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glance — the whole academic picture</a:t>
            </a:r>
            <a:endParaRPr lang="en-US" sz="3000" dirty="0"/>
          </a:p>
        </p:txBody>
      </p:sp>
      <p:pic>
        <p:nvPicPr>
          <p:cNvPr id="4" name="Image 0" descr="C:/Users/HP/Desktop/school project/docs/screenshots/01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98448"/>
            <a:ext cx="5394960" cy="3554512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172200" y="1463040"/>
            <a:ext cx="457200" cy="45720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6" name="Text 3"/>
          <p:cNvSpPr/>
          <p:nvPr/>
        </p:nvSpPr>
        <p:spPr>
          <a:xfrm>
            <a:off x="6117336" y="1444752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766560" y="137160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GPA on the 4.0 scale, recomputed on every change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72200" y="2514600"/>
            <a:ext cx="457200" cy="457200"/>
          </a:xfrm>
          <a:prstGeom prst="ellipse">
            <a:avLst/>
          </a:prstGeom>
          <a:solidFill>
            <a:srgbClr val="F72585"/>
          </a:solidFill>
          <a:ln/>
        </p:spPr>
      </p:sp>
      <p:sp>
        <p:nvSpPr>
          <p:cNvPr id="9" name="Text 6"/>
          <p:cNvSpPr/>
          <p:nvPr/>
        </p:nvSpPr>
        <p:spPr>
          <a:xfrm>
            <a:off x="6117336" y="2496312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766560" y="242316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 this week + day streak for motivation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3566160"/>
            <a:ext cx="457200" cy="45720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2" name="Text 9"/>
          <p:cNvSpPr/>
          <p:nvPr/>
        </p:nvSpPr>
        <p:spPr>
          <a:xfrm>
            <a:off x="6117336" y="3547872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766560" y="347472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&amp; due-today tasks surface automatically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&amp; grade intelligence</a:t>
            </a:r>
            <a:endParaRPr lang="en-US" sz="3000" dirty="0"/>
          </a:p>
        </p:txBody>
      </p:sp>
      <p:pic>
        <p:nvPicPr>
          <p:cNvPr id="4" name="Image 0" descr="C:/Users/HP/Desktop/school project/docs/screenshots/02_cour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4069080" cy="2680946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pic>
      <p:pic>
        <p:nvPicPr>
          <p:cNvPr id="5" name="Image 1" descr="C:/Users/HP/Desktop/school project/docs/screenshots/03_grad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325880"/>
            <a:ext cx="4069080" cy="2680946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457200" y="411480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 &amp; sort with live letter-grade preview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4663440" y="411480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Ghanaian 4.0 scale: one table drives letters, points &amp; GPA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1828800" y="4572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36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GPA = Σ(grade points × credit hours) ÷ Σ(credit hours)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TRACKER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time you can trust</a:t>
            </a:r>
            <a:endParaRPr lang="en-US" sz="3000" dirty="0"/>
          </a:p>
        </p:txBody>
      </p:sp>
      <p:pic>
        <p:nvPicPr>
          <p:cNvPr id="4" name="Image 0" descr="C:/Users/HP/Desktop/school project/docs/screenshots/04_stu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1298448"/>
            <a:ext cx="5394960" cy="3554512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457200" y="1417320"/>
            <a:ext cx="457200" cy="45720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6" name="Text 3"/>
          <p:cNvSpPr/>
          <p:nvPr/>
        </p:nvSpPr>
        <p:spPr>
          <a:xfrm>
            <a:off x="402336" y="1399032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51560" y="1371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Drift-free timer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51560" y="1655064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real timestamps, so background-tab throttling can't corrupt it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2514600"/>
            <a:ext cx="457200" cy="457200"/>
          </a:xfrm>
          <a:prstGeom prst="ellipse">
            <a:avLst/>
          </a:prstGeom>
          <a:solidFill>
            <a:srgbClr val="F72585"/>
          </a:solidFill>
          <a:ln/>
        </p:spPr>
      </p:sp>
      <p:sp>
        <p:nvSpPr>
          <p:cNvPr id="10" name="Text 7"/>
          <p:cNvSpPr/>
          <p:nvPr/>
        </p:nvSpPr>
        <p:spPr>
          <a:xfrm>
            <a:off x="402336" y="2496312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51560" y="2468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logging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2752344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genuinely elapsed focus minutes can be logged — no phantom hours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3611880"/>
            <a:ext cx="457200" cy="45720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4" name="Text 11"/>
          <p:cNvSpPr/>
          <p:nvPr/>
        </p:nvSpPr>
        <p:spPr>
          <a:xfrm>
            <a:off x="402336" y="3593592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51560" y="35661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51560" y="3849624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chart, weekly totals and streaks make neglect visible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that actually works</a:t>
            </a:r>
            <a:endParaRPr lang="en-US" sz="3000" dirty="0"/>
          </a:p>
        </p:txBody>
      </p:sp>
      <p:pic>
        <p:nvPicPr>
          <p:cNvPr id="4" name="Image 0" descr="C:/Users/HP/Desktop/school project/docs/screenshots/05_flash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98448"/>
            <a:ext cx="5394960" cy="3554512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126480" y="1463040"/>
            <a:ext cx="2606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recall, built in
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Decks per course · 3-D flip cards · shuffled with unmastered cards first.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tracking
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honestly — “I knew it” twice in a row marks a card mastered; a miss resets it. Deck tiles show mastery %, giving a concrete revision target.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· TASKS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a semester needs</a:t>
            </a:r>
            <a:endParaRPr lang="en-US" sz="3000" dirty="0"/>
          </a:p>
        </p:txBody>
      </p:sp>
      <p:pic>
        <p:nvPicPr>
          <p:cNvPr id="4" name="Image 0" descr="C:/Users/HP/Desktop/school project/docs/screenshots/06_va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4069080" cy="2680946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pic>
      <p:pic>
        <p:nvPicPr>
          <p:cNvPr id="5" name="Image 1" descr="C:/Users/HP/Desktop/school project/docs/screenshots/07_goa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325880"/>
            <a:ext cx="4069080" cy="2680946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457200" y="41148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— notes, images &amp; PDF past questions stored privately in IndexedDB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4663440" y="41148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— auto-grouped: Overdue · Due Today · Upcoming, with priorities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product: 12 defects repaired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1 (before)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25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2 (after)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9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Uploads required Firebase + internet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IndexedDB file store — works fully offline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Logged 25 phantom minutes for 0 studied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Only real elapsed focus time can be logged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9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B+/C+ grades rendered unstyled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Full 8-letter colour scale, valid CSS classes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GPA scale contradicted letter scale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One authoritative Ghanaian 4.0 grading table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9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Profile “Save” button did nothing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Profile saves &amp; updates UI instantly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Search &amp; notifications were decorative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Real global search + live deadline alerts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9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hardened HTML escaping (XSS), drift-free timer, deduplicated CSS, offline avatar, dynamic semesters…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like a user, not like a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33472" cy="1554480"/>
          </a:xfrm>
          <a:prstGeom prst="roundRect">
            <a:avLst>
              <a:gd name="adj" fmla="val 4706"/>
            </a:avLst>
          </a:prstGeom>
          <a:solidFill>
            <a:srgbClr val="F2F4F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81328"/>
            <a:ext cx="2633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 cases passed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73552" y="1371600"/>
            <a:ext cx="2633472" cy="1554480"/>
          </a:xfrm>
          <a:prstGeom prst="roundRect">
            <a:avLst>
              <a:gd name="adj" fmla="val 4706"/>
            </a:avLst>
          </a:prstGeom>
          <a:solidFill>
            <a:srgbClr val="F2F4FA"/>
          </a:solidFill>
          <a:ln/>
        </p:spPr>
      </p:sp>
      <p:sp>
        <p:nvSpPr>
          <p:cNvPr id="8" name="Text 6"/>
          <p:cNvSpPr/>
          <p:nvPr/>
        </p:nvSpPr>
        <p:spPr>
          <a:xfrm>
            <a:off x="3273552" y="1481328"/>
            <a:ext cx="2633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56432" y="228600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errors &amp; warnings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9904" y="1371600"/>
            <a:ext cx="2633472" cy="1554480"/>
          </a:xfrm>
          <a:prstGeom prst="roundRect">
            <a:avLst>
              <a:gd name="adj" fmla="val 4706"/>
            </a:avLst>
          </a:prstGeom>
          <a:solidFill>
            <a:srgbClr val="F2F4FA"/>
          </a:solidFill>
          <a:ln/>
        </p:spPr>
      </p:sp>
      <p:sp>
        <p:nvSpPr>
          <p:cNvPr id="11" name="Text 9"/>
          <p:cNvSpPr/>
          <p:nvPr/>
        </p:nvSpPr>
        <p:spPr>
          <a:xfrm>
            <a:off x="6089904" y="1481328"/>
            <a:ext cx="2633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72784" y="228600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work with Wi-Fi off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24612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 journeys exercised end-to-end: add/edit/delete courses, complete focus blocks, study decks, upload files, group tasks, export → reset → import round-trip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covered: zero-minute logging rejected, unsupported file types rejected, invalid backups rejected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responsive from 360 px to desktop; light &amp; dark themes persist without flashes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limits, clear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05072" cy="3337560"/>
          </a:xfrm>
          <a:prstGeom prst="roundRect">
            <a:avLst>
              <a:gd name="adj" fmla="val 2192"/>
            </a:avLst>
          </a:prstGeom>
          <a:solidFill>
            <a:srgbClr val="F2F4F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3520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in one browser profile — clearing site data without a backup loses it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backups exclude uploaded binary files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streaks, not full spaced-repetition scheduling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aggregate score per course (no itemised assessments)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81728" y="1325880"/>
            <a:ext cx="4005072" cy="3337560"/>
          </a:xfrm>
          <a:prstGeom prst="roundRect">
            <a:avLst>
              <a:gd name="adj" fmla="val 2192"/>
            </a:avLst>
          </a:prstGeom>
          <a:solidFill>
            <a:srgbClr val="12141F"/>
          </a:solidFill>
          <a:ln/>
        </p:spPr>
      </p:sp>
      <p:sp>
        <p:nvSpPr>
          <p:cNvPr id="8" name="Text 6"/>
          <p:cNvSpPr/>
          <p:nvPr/>
        </p:nvSpPr>
        <p:spPr>
          <a:xfrm>
            <a:off x="4910328" y="1508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next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10328" y="192024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2C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Assessment-level grades with final-grade projection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2C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SM-2 spaced repetition with daily review queues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2C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packaging — installable, service-worker cached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2C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end-to-end-encrypted sync to the student's own drive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2C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backups that include vault files · deadline reminders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HP/Desktop/school project/docs/screenshots/09_dashboard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005840"/>
            <a:ext cx="3794760" cy="2500208"/>
          </a:xfrm>
          <a:prstGeom prst="rect">
            <a:avLst/>
          </a:prstGeom>
          <a:effectLst>
            <a:outerShdw sx="100000" sy="100000" kx="0" ky="0" algn="bl" rotWithShape="0" blurRad="203200" dist="63500" dir="5400000">
              <a:srgbClr val="000000">
                <a:alpha val="60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457200" y="502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1188720"/>
            <a:ext cx="41148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alone is a complete application platform.
</a:t>
            </a:r>
            <a:endParaRPr lang="en-US" sz="1600" dirty="0"/>
          </a:p>
          <a:p>
            <a:pPr indent="0" marL="0">
              <a:lnSpc>
                <a:spcPts val="19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C2C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pairs learning science with careful front-end engineering to give every student — regardless of connectivity or budget — one private place to see the truth about their grades, their time and their revision…
</a:t>
            </a:r>
            <a:endParaRPr lang="en-US" sz="1600" dirty="0"/>
          </a:p>
          <a:p>
            <a:pPr indent="0" marL="0">
              <a:lnSpc>
                <a:spcPts val="1900"/>
              </a:lnSpc>
              <a:spcAft>
                <a:spcPts val="1000"/>
              </a:spcAft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to act on it before it's too late.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43159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57200" y="46817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available — it even works with the Wi-Fi off.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Academic Progress Tracking System — Project Defense</dc:title>
  <dc:subject>PptxGenJS Presentation</dc:subject>
  <dc:creator>Richard Yawlui; Addo Foster Keteku</dc:creator>
  <cp:lastModifiedBy>Richard Yawlui; Addo Foster Keteku</cp:lastModifiedBy>
  <cp:revision>1</cp:revision>
  <dcterms:created xsi:type="dcterms:W3CDTF">2026-07-07T15:48:41Z</dcterms:created>
  <dcterms:modified xsi:type="dcterms:W3CDTF">2026-07-07T15:48:41Z</dcterms:modified>
</cp:coreProperties>
</file>